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502919" y="182879"/>
            <a:ext cx="954044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ProjectTracker — система контроля учебных проектов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502919" y="822960"/>
            <a:ext cx="4598354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600">
                <a:solidFill>
                  <a:srgbClr val="5A6478"/>
                </a:solidFill>
              </a:defRPr>
            </a:lvl1pPr>
          </a:lstStyle>
          <a:p>
            <a:pPr/>
            <a:r>
              <a:t>Проект WebServer+API · Автор: Матвей Конин · 2026</a:t>
            </a:r>
          </a:p>
        </p:txBody>
      </p:sp>
      <p:pic>
        <p:nvPicPr>
          <p:cNvPr id="9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54230" y="1341102"/>
            <a:ext cx="8670840" cy="417579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 txBox="1"/>
          <p:nvPr/>
        </p:nvSpPr>
        <p:spPr>
          <a:xfrm>
            <a:off x="502919" y="182879"/>
            <a:ext cx="4137582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Цель и задачи проекта</a:t>
            </a:r>
          </a:p>
        </p:txBody>
      </p:sp>
      <p:grpSp>
        <p:nvGrpSpPr>
          <p:cNvPr id="101" name="Rounded Rectangle 2"/>
          <p:cNvGrpSpPr/>
          <p:nvPr/>
        </p:nvGrpSpPr>
        <p:grpSpPr>
          <a:xfrm>
            <a:off x="548640" y="1280160"/>
            <a:ext cx="11064241" cy="5120641"/>
            <a:chOff x="0" y="0"/>
            <a:chExt cx="11064240" cy="5120640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11064241" cy="512064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D2DC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</a:p>
          </p:txBody>
        </p:sp>
        <p:sp>
          <p:nvSpPr>
            <p:cNvPr id="100" name="• Цель: единый инструмент контроля проектов для учителя…"/>
            <p:cNvSpPr txBox="1"/>
            <p:nvPr/>
          </p:nvSpPr>
          <p:spPr>
            <a:xfrm>
              <a:off x="300451" y="1577429"/>
              <a:ext cx="10463338" cy="196578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spcBef>
                  <a:spcPts val="800"/>
                </a:spcBef>
                <a:defRPr sz="2000">
                  <a:solidFill>
                    <a:srgbClr val="141E37"/>
                  </a:solidFill>
                </a:defRPr>
              </a:pPr>
              <a:r>
                <a:t>• Цель: единый инструмент контроля проектов для учителя</a:t>
              </a:r>
            </a:p>
            <a:p>
              <a:pPr>
                <a:spcBef>
                  <a:spcPts val="800"/>
                </a:spcBef>
                <a:defRPr sz="2000">
                  <a:solidFill>
                    <a:srgbClr val="141E37"/>
                  </a:solidFill>
                </a:defRPr>
              </a:pPr>
              <a:r>
                <a:t>• Разграничение ролей: учитель и ученик</a:t>
              </a:r>
            </a:p>
            <a:p>
              <a:pPr>
                <a:spcBef>
                  <a:spcPts val="800"/>
                </a:spcBef>
                <a:defRPr sz="2000">
                  <a:solidFill>
                    <a:srgbClr val="141E37"/>
                  </a:solidFill>
                </a:defRPr>
              </a:pPr>
              <a:r>
                <a:t>• Этапы, дедлайны и фиксируемый прогресс</a:t>
              </a:r>
            </a:p>
            <a:p>
              <a:pPr>
                <a:spcBef>
                  <a:spcPts val="800"/>
                </a:spcBef>
                <a:defRPr sz="2000">
                  <a:solidFill>
                    <a:srgbClr val="141E37"/>
                  </a:solidFill>
                </a:defRPr>
              </a:pPr>
              <a:r>
                <a:t>• Сообщения внутри проекта + уведомления</a:t>
              </a:r>
            </a:p>
            <a:p>
              <a:pPr>
                <a:spcBef>
                  <a:spcPts val="800"/>
                </a:spcBef>
                <a:defRPr sz="2000">
                  <a:solidFill>
                    <a:srgbClr val="141E37"/>
                  </a:solidFill>
                </a:defRPr>
              </a:pPr>
              <a:r>
                <a:t>• Собственный REST API и XLSX-отчетность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"/>
          <p:cNvSpPr txBox="1"/>
          <p:nvPr/>
        </p:nvSpPr>
        <p:spPr>
          <a:xfrm>
            <a:off x="502919" y="182879"/>
            <a:ext cx="518652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Требования ТЗ и реализация</a:t>
            </a:r>
          </a:p>
        </p:txBody>
      </p:sp>
      <p:graphicFrame>
        <p:nvGraphicFramePr>
          <p:cNvPr id="104" name="Table 2"/>
          <p:cNvGraphicFramePr/>
          <p:nvPr/>
        </p:nvGraphicFramePr>
        <p:xfrm>
          <a:off x="383636" y="1352348"/>
          <a:ext cx="4744018" cy="529385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365658"/>
                <a:gridCol w="2365658"/>
              </a:tblGrid>
              <a:tr h="75444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Требование ТЗ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Статус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5444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Flask + Jinja2 + Bootstrap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Реализовано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5444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2 БД SQLite + ORM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Реализовано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5444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Регистрация/авторизация + 2 роли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Реализовано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5444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Несколько проектов, этапы, статусы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Реализовано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5444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REST API (GET/POST)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Реализовано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5445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Импорт/экспорт отчетов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Реализовано (XLSX)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pic>
        <p:nvPicPr>
          <p:cNvPr id="105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206229" y="1067556"/>
            <a:ext cx="6769962" cy="555471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 txBox="1"/>
          <p:nvPr/>
        </p:nvSpPr>
        <p:spPr>
          <a:xfrm>
            <a:off x="502919" y="182879"/>
            <a:ext cx="39871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Архитектура решения</a:t>
            </a:r>
          </a:p>
        </p:txBody>
      </p:sp>
      <p:grpSp>
        <p:nvGrpSpPr>
          <p:cNvPr id="110" name="Rounded Rectangle 2"/>
          <p:cNvGrpSpPr/>
          <p:nvPr/>
        </p:nvGrpSpPr>
        <p:grpSpPr>
          <a:xfrm>
            <a:off x="822960" y="1166038"/>
            <a:ext cx="2011681" cy="1097281"/>
            <a:chOff x="0" y="0"/>
            <a:chExt cx="2011679" cy="1097280"/>
          </a:xfrm>
        </p:grpSpPr>
        <p:sp>
          <p:nvSpPr>
            <p:cNvPr id="108" name="Rounded Rectangle"/>
            <p:cNvSpPr/>
            <p:nvPr/>
          </p:nvSpPr>
          <p:spPr>
            <a:xfrm>
              <a:off x="0" y="0"/>
              <a:ext cx="2011680" cy="109728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2367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09" name="Браузер"/>
            <p:cNvSpPr txBox="1"/>
            <p:nvPr/>
          </p:nvSpPr>
          <p:spPr>
            <a:xfrm>
              <a:off x="104047" y="409641"/>
              <a:ext cx="1803585" cy="277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500"/>
              </a:lvl1pPr>
            </a:lstStyle>
            <a:p>
              <a:pPr/>
              <a:r>
                <a:t>Браузер</a:t>
              </a:r>
            </a:p>
          </p:txBody>
        </p:sp>
      </p:grpSp>
      <p:sp>
        <p:nvSpPr>
          <p:cNvPr id="111" name="Right Arrow 3"/>
          <p:cNvSpPr/>
          <p:nvPr/>
        </p:nvSpPr>
        <p:spPr>
          <a:xfrm>
            <a:off x="2903220" y="1486078"/>
            <a:ext cx="411481" cy="4572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367E3"/>
          </a:solidFill>
          <a:ln>
            <a:solidFill>
              <a:srgbClr val="2367E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14" name="Rounded Rectangle 4"/>
          <p:cNvGrpSpPr/>
          <p:nvPr/>
        </p:nvGrpSpPr>
        <p:grpSpPr>
          <a:xfrm>
            <a:off x="3383280" y="1166038"/>
            <a:ext cx="2011681" cy="1097281"/>
            <a:chOff x="0" y="0"/>
            <a:chExt cx="2011679" cy="1097280"/>
          </a:xfrm>
        </p:grpSpPr>
        <p:sp>
          <p:nvSpPr>
            <p:cNvPr id="112" name="Rounded Rectangle"/>
            <p:cNvSpPr/>
            <p:nvPr/>
          </p:nvSpPr>
          <p:spPr>
            <a:xfrm>
              <a:off x="0" y="0"/>
              <a:ext cx="2011680" cy="109728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2367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3" name="Flask routes"/>
            <p:cNvSpPr txBox="1"/>
            <p:nvPr/>
          </p:nvSpPr>
          <p:spPr>
            <a:xfrm>
              <a:off x="104047" y="295341"/>
              <a:ext cx="1803585" cy="5065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/>
              </a:pPr>
              <a:r>
                <a:t>Flask</a:t>
              </a:r>
              <a:br/>
              <a:r>
                <a:t>routes</a:t>
              </a:r>
            </a:p>
          </p:txBody>
        </p:sp>
      </p:grpSp>
      <p:sp>
        <p:nvSpPr>
          <p:cNvPr id="115" name="Right Arrow 5"/>
          <p:cNvSpPr/>
          <p:nvPr/>
        </p:nvSpPr>
        <p:spPr>
          <a:xfrm>
            <a:off x="5463539" y="1486078"/>
            <a:ext cx="411481" cy="4572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367E3"/>
          </a:solidFill>
          <a:ln>
            <a:solidFill>
              <a:srgbClr val="2367E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18" name="Rounded Rectangle 6"/>
          <p:cNvGrpSpPr/>
          <p:nvPr/>
        </p:nvGrpSpPr>
        <p:grpSpPr>
          <a:xfrm>
            <a:off x="5943600" y="1166038"/>
            <a:ext cx="2011680" cy="1097281"/>
            <a:chOff x="0" y="0"/>
            <a:chExt cx="2011679" cy="109728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2011680" cy="109728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2367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17" name="ORM SQLAlchemy"/>
            <p:cNvSpPr txBox="1"/>
            <p:nvPr/>
          </p:nvSpPr>
          <p:spPr>
            <a:xfrm>
              <a:off x="104047" y="295341"/>
              <a:ext cx="1803585" cy="5065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/>
              </a:pPr>
              <a:r>
                <a:t>ORM</a:t>
              </a:r>
              <a:br/>
              <a:r>
                <a:t>SQLAlchemy</a:t>
              </a:r>
            </a:p>
          </p:txBody>
        </p:sp>
      </p:grpSp>
      <p:sp>
        <p:nvSpPr>
          <p:cNvPr id="119" name="Right Arrow 7"/>
          <p:cNvSpPr/>
          <p:nvPr/>
        </p:nvSpPr>
        <p:spPr>
          <a:xfrm>
            <a:off x="8023859" y="1486078"/>
            <a:ext cx="411481" cy="4572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2367E3"/>
          </a:solidFill>
          <a:ln>
            <a:solidFill>
              <a:srgbClr val="2367E3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22" name="Rounded Rectangle 8"/>
          <p:cNvGrpSpPr/>
          <p:nvPr/>
        </p:nvGrpSpPr>
        <p:grpSpPr>
          <a:xfrm>
            <a:off x="8503920" y="1166038"/>
            <a:ext cx="2011681" cy="1097281"/>
            <a:chOff x="0" y="0"/>
            <a:chExt cx="2011679" cy="1097280"/>
          </a:xfrm>
        </p:grpSpPr>
        <p:sp>
          <p:nvSpPr>
            <p:cNvPr id="120" name="Rounded Rectangle"/>
            <p:cNvSpPr/>
            <p:nvPr/>
          </p:nvSpPr>
          <p:spPr>
            <a:xfrm>
              <a:off x="0" y="0"/>
              <a:ext cx="2011680" cy="109728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2367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5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121" name="2 SQLite БД main + service"/>
            <p:cNvSpPr txBox="1"/>
            <p:nvPr/>
          </p:nvSpPr>
          <p:spPr>
            <a:xfrm>
              <a:off x="104047" y="295341"/>
              <a:ext cx="1803585" cy="5065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500"/>
              </a:pPr>
              <a:r>
                <a:t>2 SQLite БД</a:t>
              </a:r>
              <a:br/>
              <a:r>
                <a:t>main + service</a:t>
              </a:r>
            </a:p>
          </p:txBody>
        </p:sp>
      </p:grpSp>
      <p:grpSp>
        <p:nvGrpSpPr>
          <p:cNvPr id="125" name="Rounded Rectangle 9"/>
          <p:cNvGrpSpPr/>
          <p:nvPr/>
        </p:nvGrpSpPr>
        <p:grpSpPr>
          <a:xfrm>
            <a:off x="694690" y="2832583"/>
            <a:ext cx="10789920" cy="2560321"/>
            <a:chOff x="0" y="0"/>
            <a:chExt cx="10789919" cy="2560320"/>
          </a:xfrm>
        </p:grpSpPr>
        <p:sp>
          <p:nvSpPr>
            <p:cNvPr id="123" name="Rounded Rectangle"/>
            <p:cNvSpPr/>
            <p:nvPr/>
          </p:nvSpPr>
          <p:spPr>
            <a:xfrm>
              <a:off x="0" y="0"/>
              <a:ext cx="10789920" cy="256032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D2DC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</a:p>
          </p:txBody>
        </p:sp>
        <p:sp>
          <p:nvSpPr>
            <p:cNvPr id="124" name="• Web-интерфейс: Jinja2 + Bootstrap…"/>
            <p:cNvSpPr txBox="1"/>
            <p:nvPr/>
          </p:nvSpPr>
          <p:spPr>
            <a:xfrm>
              <a:off x="175467" y="523066"/>
              <a:ext cx="10438986" cy="15141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Web-интерфейс: Jinja2 + Bootstrap</a:t>
              </a:r>
              <a:endParaRPr sz="2000"/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Логика и доступы: Flask-маршруты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Данные: ORM-модели и ограничения целостности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Разделение предметных и сервисных данных по двум БД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Box 1"/>
          <p:cNvSpPr txBox="1"/>
          <p:nvPr/>
        </p:nvSpPr>
        <p:spPr>
          <a:xfrm>
            <a:off x="502919" y="182879"/>
            <a:ext cx="5654438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Модель данных и ограничения</a:t>
            </a:r>
          </a:p>
        </p:txBody>
      </p:sp>
      <p:graphicFrame>
        <p:nvGraphicFramePr>
          <p:cNvPr id="128" name="Table 2"/>
          <p:cNvGraphicFramePr/>
          <p:nvPr/>
        </p:nvGraphicFramePr>
        <p:xfrm>
          <a:off x="548640" y="1280160"/>
          <a:ext cx="11064241" cy="5029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688080"/>
                <a:gridCol w="3688080"/>
                <a:gridCol w="3688080"/>
              </a:tblGrid>
              <a:tr h="71845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Сущность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Назначение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Ключевые ограничения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User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Пользователь и роль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email уникален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Project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Проект учителя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teacher_id обязателен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ProjectStudent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Привязка ученик-проект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(project_id, student_id) уникально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Stage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Этап проекта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(project_id, order_num) уникально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Progress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Прогресс ученика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(student_id, stage_id) уникально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Message/ApiLog/ActionLog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Сервисные данные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хранятся в service.db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Box 1"/>
          <p:cNvSpPr txBox="1"/>
          <p:nvPr/>
        </p:nvSpPr>
        <p:spPr>
          <a:xfrm>
            <a:off x="502919" y="182879"/>
            <a:ext cx="3801429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Функционал учителя</a:t>
            </a:r>
          </a:p>
        </p:txBody>
      </p:sp>
      <p:grpSp>
        <p:nvGrpSpPr>
          <p:cNvPr id="133" name="Rounded Rectangle 2"/>
          <p:cNvGrpSpPr/>
          <p:nvPr/>
        </p:nvGrpSpPr>
        <p:grpSpPr>
          <a:xfrm>
            <a:off x="198008" y="1093600"/>
            <a:ext cx="5120641" cy="5120641"/>
            <a:chOff x="0" y="0"/>
            <a:chExt cx="5120640" cy="5120640"/>
          </a:xfrm>
        </p:grpSpPr>
        <p:sp>
          <p:nvSpPr>
            <p:cNvPr id="131" name="Rounded Rectangle"/>
            <p:cNvSpPr/>
            <p:nvPr/>
          </p:nvSpPr>
          <p:spPr>
            <a:xfrm>
              <a:off x="0" y="0"/>
              <a:ext cx="5120641" cy="512064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D2DC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</a:p>
          </p:txBody>
        </p:sp>
        <p:sp>
          <p:nvSpPr>
            <p:cNvPr id="132" name="• Создание и редактирование проектов…"/>
            <p:cNvSpPr txBox="1"/>
            <p:nvPr/>
          </p:nvSpPr>
          <p:spPr>
            <a:xfrm>
              <a:off x="300451" y="1460326"/>
              <a:ext cx="4519738" cy="21999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Создание и редактирование проектов</a:t>
              </a:r>
              <a:endParaRPr sz="2000"/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Управление этапами: добавить/изменить/удалить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Привязка учеников к проекту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Переход в аналитику и сообщения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Выгрузка отчета XLSX и импорт этапов XLSX</a:t>
              </a:r>
            </a:p>
          </p:txBody>
        </p:sp>
      </p:grpSp>
      <p:pic>
        <p:nvPicPr>
          <p:cNvPr id="13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643810" y="1130468"/>
            <a:ext cx="6151059" cy="504690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 txBox="1"/>
          <p:nvPr/>
        </p:nvSpPr>
        <p:spPr>
          <a:xfrm>
            <a:off x="502919" y="182879"/>
            <a:ext cx="385421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Функционал ученика</a:t>
            </a:r>
          </a:p>
        </p:txBody>
      </p:sp>
      <p:grpSp>
        <p:nvGrpSpPr>
          <p:cNvPr id="139" name="Rounded Rectangle 2"/>
          <p:cNvGrpSpPr/>
          <p:nvPr/>
        </p:nvGrpSpPr>
        <p:grpSpPr>
          <a:xfrm>
            <a:off x="321760" y="981091"/>
            <a:ext cx="5120641" cy="5120641"/>
            <a:chOff x="0" y="0"/>
            <a:chExt cx="5120640" cy="5120640"/>
          </a:xfrm>
        </p:grpSpPr>
        <p:sp>
          <p:nvSpPr>
            <p:cNvPr id="137" name="Rounded Rectangle"/>
            <p:cNvSpPr/>
            <p:nvPr/>
          </p:nvSpPr>
          <p:spPr>
            <a:xfrm>
              <a:off x="0" y="0"/>
              <a:ext cx="5120641" cy="512064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D2DC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</a:p>
          </p:txBody>
        </p:sp>
        <p:sp>
          <p:nvSpPr>
            <p:cNvPr id="138" name="• Список доступных проектов…"/>
            <p:cNvSpPr txBox="1"/>
            <p:nvPr/>
          </p:nvSpPr>
          <p:spPr>
            <a:xfrm>
              <a:off x="300451" y="1606376"/>
              <a:ext cx="4519738" cy="19078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Список доступных проектов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Работа с этапом и дедлайном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Статусы: выполнен/в процессе/не начат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GitHub-ссылка и комментарий по этапу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Сохранение прогресса с подтверждением</a:t>
              </a:r>
            </a:p>
          </p:txBody>
        </p:sp>
      </p:grpSp>
      <p:pic>
        <p:nvPicPr>
          <p:cNvPr id="14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21168" y="167410"/>
            <a:ext cx="5830815" cy="2449922"/>
          </a:xfrm>
          <a:prstGeom prst="rect">
            <a:avLst/>
          </a:prstGeom>
          <a:ln w="12700">
            <a:miter lim="400000"/>
          </a:ln>
        </p:spPr>
      </p:pic>
      <p:pic>
        <p:nvPicPr>
          <p:cNvPr id="14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62960" y="2687015"/>
            <a:ext cx="5947233" cy="217537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2" name="pasted-movie.png" descr="pasted-movie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62960" y="4932074"/>
            <a:ext cx="5947233" cy="13884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 txBox="1"/>
          <p:nvPr/>
        </p:nvSpPr>
        <p:spPr>
          <a:xfrm>
            <a:off x="502919" y="182879"/>
            <a:ext cx="4956533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Сообщения и уведомления</a:t>
            </a:r>
          </a:p>
        </p:txBody>
      </p:sp>
      <p:grpSp>
        <p:nvGrpSpPr>
          <p:cNvPr id="147" name="Rounded Rectangle 2"/>
          <p:cNvGrpSpPr/>
          <p:nvPr/>
        </p:nvGrpSpPr>
        <p:grpSpPr>
          <a:xfrm>
            <a:off x="548640" y="1280160"/>
            <a:ext cx="5120641" cy="5120641"/>
            <a:chOff x="0" y="0"/>
            <a:chExt cx="5120640" cy="5120640"/>
          </a:xfrm>
        </p:grpSpPr>
        <p:sp>
          <p:nvSpPr>
            <p:cNvPr id="145" name="Rounded Rectangle"/>
            <p:cNvSpPr/>
            <p:nvPr/>
          </p:nvSpPr>
          <p:spPr>
            <a:xfrm>
              <a:off x="0" y="0"/>
              <a:ext cx="5120641" cy="512064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D2DC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</a:p>
          </p:txBody>
        </p:sp>
        <p:sp>
          <p:nvSpPr>
            <p:cNvPr id="146" name="• Чат привязан к проекту…"/>
            <p:cNvSpPr txBox="1"/>
            <p:nvPr/>
          </p:nvSpPr>
          <p:spPr>
            <a:xfrm>
              <a:off x="300451" y="1365076"/>
              <a:ext cx="4519738" cy="23904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Чат привязан к проекту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Статусы сообщений: Новое / Отправлено / Прочитано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Колокольчик показывает число непрочитанных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Переход по уведомлению ведет в нужный контекст</a:t>
              </a:r>
            </a:p>
          </p:txBody>
        </p:sp>
      </p:grpSp>
      <p:pic>
        <p:nvPicPr>
          <p:cNvPr id="148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925112" y="1386320"/>
            <a:ext cx="5954580" cy="490832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Box 1"/>
          <p:cNvSpPr txBox="1"/>
          <p:nvPr/>
        </p:nvSpPr>
        <p:spPr>
          <a:xfrm>
            <a:off x="502919" y="182879"/>
            <a:ext cx="4135399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Импорт и экспорт XLSX</a:t>
            </a:r>
          </a:p>
        </p:txBody>
      </p:sp>
      <p:grpSp>
        <p:nvGrpSpPr>
          <p:cNvPr id="153" name="Rounded Rectangle 2"/>
          <p:cNvGrpSpPr/>
          <p:nvPr/>
        </p:nvGrpSpPr>
        <p:grpSpPr>
          <a:xfrm>
            <a:off x="435200" y="971806"/>
            <a:ext cx="5120641" cy="5120642"/>
            <a:chOff x="0" y="0"/>
            <a:chExt cx="5120640" cy="5120640"/>
          </a:xfrm>
        </p:grpSpPr>
        <p:sp>
          <p:nvSpPr>
            <p:cNvPr id="151" name="Rounded Rectangle"/>
            <p:cNvSpPr/>
            <p:nvPr/>
          </p:nvSpPr>
          <p:spPr>
            <a:xfrm>
              <a:off x="0" y="0"/>
              <a:ext cx="5120641" cy="512064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D2DC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</a:p>
          </p:txBody>
        </p:sp>
        <p:sp>
          <p:nvSpPr>
            <p:cNvPr id="152" name="• Импорт этапов только из XLSX-шаблона…"/>
            <p:cNvSpPr txBox="1"/>
            <p:nvPr/>
          </p:nvSpPr>
          <p:spPr>
            <a:xfrm>
              <a:off x="300451" y="1511126"/>
              <a:ext cx="4519738" cy="20983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Импорт этапов только из XLSX-шаблона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Строгая валидация: ошибка в строке отменяет весь импорт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Отчет проекта в XLSX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Аналитика проекта в XLSX с цветами статусов</a:t>
              </a:r>
            </a:p>
          </p:txBody>
        </p:sp>
      </p:grpSp>
      <p:pic>
        <p:nvPicPr>
          <p:cNvPr id="154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270711" y="233072"/>
            <a:ext cx="5120641" cy="4201455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321685" y="4657099"/>
            <a:ext cx="5018693" cy="207368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"/>
          <p:cNvSpPr txBox="1"/>
          <p:nvPr/>
        </p:nvSpPr>
        <p:spPr>
          <a:xfrm>
            <a:off x="502919" y="182879"/>
            <a:ext cx="3089435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REST API проекта</a:t>
            </a:r>
          </a:p>
        </p:txBody>
      </p:sp>
      <p:graphicFrame>
        <p:nvGraphicFramePr>
          <p:cNvPr id="158" name="Table 2"/>
          <p:cNvGraphicFramePr/>
          <p:nvPr/>
        </p:nvGraphicFramePr>
        <p:xfrm>
          <a:off x="548640" y="1280160"/>
          <a:ext cx="11064241" cy="5029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100583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Группа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Методы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Назначение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Доступ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10058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Проекты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GET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Список/детали проектов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Учитель/ученик по ролям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10058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Этапы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GET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Список этапов проекта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Участники проекта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10058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Прогресс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POST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Обновление статуса и данных этапа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Ученик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100583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Сообщения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POST/GET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Отправка и чтение чата проекта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Участники проекта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Box 1"/>
          <p:cNvSpPr txBox="1"/>
          <p:nvPr/>
        </p:nvSpPr>
        <p:spPr>
          <a:xfrm>
            <a:off x="502919" y="182879"/>
            <a:ext cx="7530466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Соответствие ТЗ и фактические уточнения</a:t>
            </a:r>
          </a:p>
        </p:txBody>
      </p:sp>
      <p:graphicFrame>
        <p:nvGraphicFramePr>
          <p:cNvPr id="161" name="Table 2"/>
          <p:cNvGraphicFramePr/>
          <p:nvPr/>
        </p:nvGraphicFramePr>
        <p:xfrm>
          <a:off x="548640" y="1280160"/>
          <a:ext cx="11064241" cy="50292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532120"/>
                <a:gridCol w="5532120"/>
              </a:tblGrid>
              <a:tr h="71845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Пункт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Итог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2 БД SQLite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Выполнено: main.db + service.db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ORM-модели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Выполнено: SQLAlchemy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Регистрация/авторизация/роли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Выполнено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Поддержка нескольких проектов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Выполнено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Сообщения и уведомления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Выполнено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71845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CSV в исходном ТЗ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/>
                        <a:t>Уточнено и заменено на XLSX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Box 1"/>
          <p:cNvSpPr txBox="1"/>
          <p:nvPr/>
        </p:nvSpPr>
        <p:spPr>
          <a:xfrm>
            <a:off x="502919" y="182879"/>
            <a:ext cx="2396690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3200">
                <a:solidFill>
                  <a:srgbClr val="141E37"/>
                </a:solidFill>
              </a:defRPr>
            </a:lvl1pPr>
          </a:lstStyle>
          <a:p>
            <a:pPr/>
            <a:r>
              <a:t>Итог проекта</a:t>
            </a:r>
          </a:p>
        </p:txBody>
      </p:sp>
      <p:grpSp>
        <p:nvGrpSpPr>
          <p:cNvPr id="166" name="Rounded Rectangle 2"/>
          <p:cNvGrpSpPr/>
          <p:nvPr/>
        </p:nvGrpSpPr>
        <p:grpSpPr>
          <a:xfrm>
            <a:off x="561340" y="1305560"/>
            <a:ext cx="4754880" cy="5120641"/>
            <a:chOff x="0" y="0"/>
            <a:chExt cx="4754879" cy="5120640"/>
          </a:xfrm>
        </p:grpSpPr>
        <p:sp>
          <p:nvSpPr>
            <p:cNvPr id="164" name="Rounded Rectangle"/>
            <p:cNvSpPr/>
            <p:nvPr/>
          </p:nvSpPr>
          <p:spPr>
            <a:xfrm>
              <a:off x="0" y="0"/>
              <a:ext cx="4754880" cy="5120641"/>
            </a:xfrm>
            <a:prstGeom prst="roundRect">
              <a:avLst>
                <a:gd name="adj" fmla="val 16667"/>
              </a:avLst>
            </a:prstGeom>
            <a:solidFill>
              <a:srgbClr val="F3F7FF"/>
            </a:solidFill>
            <a:ln w="9525" cap="flat">
              <a:solidFill>
                <a:srgbClr val="D2DCF0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</a:p>
          </p:txBody>
        </p:sp>
        <p:sp>
          <p:nvSpPr>
            <p:cNvPr id="165" name="• Реализован рабочий web-сервис для учителя и ученика…"/>
            <p:cNvSpPr txBox="1"/>
            <p:nvPr/>
          </p:nvSpPr>
          <p:spPr>
            <a:xfrm>
              <a:off x="282596" y="1561926"/>
              <a:ext cx="4189688" cy="199678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Реализован рабочий web-сервис для учителя и ученика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Полный цикл: этапы, прогресс, сообщения, аналитика</a:t>
              </a:r>
            </a:p>
            <a:p>
              <a:pPr>
                <a:spcBef>
                  <a:spcPts val="800"/>
                </a:spcBef>
                <a:defRPr>
                  <a:solidFill>
                    <a:srgbClr val="141E37"/>
                  </a:solidFill>
                </a:defRPr>
              </a:pPr>
              <a:r>
                <a:t>• Импорт/экспорт через XLSX и собственный REST API</a:t>
              </a:r>
            </a:p>
          </p:txBody>
        </p:sp>
      </p:grpSp>
      <p:pic>
        <p:nvPicPr>
          <p:cNvPr id="16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74933" y="4645295"/>
            <a:ext cx="4868181" cy="1780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74791" y="469200"/>
            <a:ext cx="4868277" cy="399439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